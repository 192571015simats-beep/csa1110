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0750" y="1432560"/>
            <a:ext cx="723010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2400">
                <a:solidFill>
                  <a:srgbClr val="000000"/>
                </a:solidFill>
                <a:latin typeface="Noto Serif"/>
              </a:rPr>
              <a:t>CSA1110 OBJECT ORIENTED ANALYSIS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7640" y="2360930"/>
            <a:ext cx="927989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34" sz="6000">
                <a:solidFill>
                  <a:srgbClr val="000000"/>
                </a:solidFill>
                <a:latin typeface="Noto Serif"/>
              </a:rPr>
              <a:t>UML Modeling for Hospital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1250" y="3180080"/>
            <a:ext cx="7205980" cy="7619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1" sz="6000">
                <a:solidFill>
                  <a:srgbClr val="000000"/>
                </a:solidFill>
                <a:latin typeface="Noto Serif"/>
              </a:rP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640580"/>
            <a:ext cx="13779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1800">
                <a:solidFill>
                  <a:srgbClr val="000000"/>
                </a:solidFill>
                <a:latin typeface="Noto Serif"/>
              </a:rPr>
              <a:t>Presented by: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9150" y="4574540"/>
            <a:ext cx="106425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5" sz="1800">
                <a:solidFill>
                  <a:srgbClr val="000000"/>
                </a:solidFill>
                <a:latin typeface="Noto Serif"/>
              </a:rPr>
              <a:t>Guided by: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021580"/>
            <a:ext cx="22860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8" sz="1800">
                <a:solidFill>
                  <a:srgbClr val="000000"/>
                </a:solidFill>
                <a:latin typeface="Noto Serif"/>
              </a:rPr>
              <a:t>Loshini L (192571015)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150" y="4955540"/>
            <a:ext cx="192024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0" sz="1800">
                <a:solidFill>
                  <a:srgbClr val="000000"/>
                </a:solidFill>
                <a:latin typeface="Noto Serif"/>
              </a:rPr>
              <a:t>Dr. MANIMARAN.A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950" y="133350"/>
            <a:ext cx="8813800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71950" y="1009650"/>
            <a:ext cx="305562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34" b="1" sz="4400">
                <a:solidFill>
                  <a:srgbClr val="3A7D22"/>
                </a:solidFill>
                <a:latin typeface="Noto Serif"/>
              </a:rPr>
              <a:t>Introduction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9860" y="2510790"/>
            <a:ext cx="951103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5" sz="2000">
                <a:solidFill>
                  <a:srgbClr val="000000"/>
                </a:solidFill>
                <a:latin typeface="Noto Serif"/>
              </a:rPr>
              <a:t>A </a:t>
            </a:r>
            <a:r>
              <a:rPr spc="-117" b="1" sz="2000">
                <a:solidFill>
                  <a:srgbClr val="000000"/>
                </a:solidFill>
                <a:latin typeface="Noto Serif"/>
              </a:rPr>
              <a:t>Hospital Management System (HMS)</a:t>
            </a:r>
            <a:r>
              <a:rPr spc="-59" sz="2000">
                <a:solidFill>
                  <a:srgbClr val="000000"/>
                </a:solidFill>
                <a:latin typeface="Noto Serif"/>
              </a:rPr>
              <a:t> helps hospitals manage their daily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9860" y="2921000"/>
            <a:ext cx="871474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2" sz="2000">
                <a:solidFill>
                  <a:srgbClr val="000000"/>
                </a:solidFill>
                <a:latin typeface="Noto Serif"/>
              </a:rPr>
              <a:t>It stores </a:t>
            </a:r>
            <a:r>
              <a:rPr spc="-136" b="1" sz="2000">
                <a:solidFill>
                  <a:srgbClr val="000000"/>
                </a:solidFill>
                <a:latin typeface="Noto Serif"/>
              </a:rPr>
              <a:t>patient records, doctor schedules, appointments, and billing details</a:t>
            </a:r>
            <a:r>
              <a:rPr spc="305" sz="2000">
                <a:solidFill>
                  <a:srgbClr val="000000"/>
                </a:solidFill>
                <a:latin typeface="Noto Serif"/>
              </a:rPr>
              <a:t>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860" y="3329940"/>
            <a:ext cx="719709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2000">
                <a:solidFill>
                  <a:srgbClr val="000000"/>
                </a:solidFill>
                <a:latin typeface="Noto Serif"/>
              </a:rPr>
              <a:t>It reduces paperwork and improves the accuracy of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9860" y="3740150"/>
            <a:ext cx="930783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0" b="1" sz="2000">
                <a:solidFill>
                  <a:srgbClr val="000000"/>
                </a:solidFill>
                <a:latin typeface="Noto Serif"/>
              </a:rPr>
              <a:t>UML diagrams</a:t>
            </a:r>
            <a:r>
              <a:rPr spc="-63" sz="2000">
                <a:solidFill>
                  <a:srgbClr val="000000"/>
                </a:solidFill>
                <a:latin typeface="Noto Serif"/>
              </a:rPr>
              <a:t> are used to design and understand the system before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9860" y="4149090"/>
            <a:ext cx="1025017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3" sz="2000">
                <a:solidFill>
                  <a:srgbClr val="000000"/>
                </a:solidFill>
                <a:latin typeface="Noto Serif"/>
              </a:rPr>
              <a:t>UML helps developers and stakeholders communicate better and makes the system easier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9860" y="4434840"/>
            <a:ext cx="279654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7" sz="2000">
                <a:solidFill>
                  <a:srgbClr val="000000"/>
                </a:solidFill>
                <a:latin typeface="Noto Serif"/>
              </a:rPr>
              <a:t>to maintain and improve.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7350"/>
            <a:ext cx="1066800" cy="1060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300" y="387350"/>
            <a:ext cx="1092200" cy="1270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850" y="5302250"/>
            <a:ext cx="3606800" cy="1549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5650" y="770890"/>
            <a:ext cx="557910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51" b="1" sz="4400">
                <a:solidFill>
                  <a:srgbClr val="3A7D22"/>
                </a:solidFill>
                <a:latin typeface="Noto Serif"/>
              </a:rPr>
              <a:t>Problem Identification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840" y="1863089"/>
            <a:ext cx="544449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1" sz="2000">
                <a:solidFill>
                  <a:srgbClr val="000000"/>
                </a:solidFill>
                <a:latin typeface="Noto Serif"/>
              </a:rPr>
              <a:t>Patient records are difficult to manage manually.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840" y="2273300"/>
            <a:ext cx="568706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0" sz="2000">
                <a:solidFill>
                  <a:srgbClr val="000000"/>
                </a:solidFill>
                <a:latin typeface="Noto Serif"/>
              </a:rPr>
              <a:t>Doctor schedules may overlap or cause confusion.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840" y="2682240"/>
            <a:ext cx="5842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9" sz="2000">
                <a:solidFill>
                  <a:srgbClr val="000000"/>
                </a:solidFill>
                <a:latin typeface="Noto Serif"/>
              </a:rPr>
              <a:t>Appointment booking can be slow and unorganized.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2840" y="3092450"/>
            <a:ext cx="575945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2000">
                <a:solidFill>
                  <a:srgbClr val="000000"/>
                </a:solidFill>
                <a:latin typeface="Noto Serif"/>
              </a:rPr>
              <a:t>Billing errors can occur due to manual calculations.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840" y="3501390"/>
            <a:ext cx="812291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7" sz="2000">
                <a:solidFill>
                  <a:srgbClr val="000000"/>
                </a:solidFill>
                <a:latin typeface="Noto Serif"/>
              </a:rPr>
              <a:t>Lack of a proper system leads to delays and poor hospital management.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1950"/>
            <a:ext cx="1041400" cy="1028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350" y="342900"/>
            <a:ext cx="889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85440" y="656590"/>
            <a:ext cx="622681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51" sz="6000">
                <a:solidFill>
                  <a:srgbClr val="000000"/>
                </a:solidFill>
                <a:latin typeface="Noto Serif"/>
              </a:rPr>
              <a:t>Proposed Solution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6739" y="2225040"/>
            <a:ext cx="676783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1" sz="2000">
                <a:solidFill>
                  <a:srgbClr val="000000"/>
                </a:solidFill>
                <a:latin typeface="Noto Serif"/>
              </a:rPr>
              <a:t>Develop a </a:t>
            </a:r>
            <a:r>
              <a:rPr spc="-121" b="1" sz="2000">
                <a:solidFill>
                  <a:srgbClr val="000000"/>
                </a:solidFill>
                <a:latin typeface="Noto Serif"/>
              </a:rPr>
              <a:t>Hospital Management System</a:t>
            </a:r>
            <a:r>
              <a:rPr spc="-43" sz="2000">
                <a:solidFill>
                  <a:srgbClr val="000000"/>
                </a:solidFill>
                <a:latin typeface="Noto Serif"/>
              </a:rPr>
              <a:t> using UML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6739" y="2635250"/>
            <a:ext cx="780160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2000">
                <a:solidFill>
                  <a:srgbClr val="000000"/>
                </a:solidFill>
                <a:latin typeface="Noto Serif"/>
              </a:rPr>
              <a:t>Use a </a:t>
            </a:r>
            <a:r>
              <a:rPr spc="-109" b="1" sz="2000">
                <a:solidFill>
                  <a:srgbClr val="000000"/>
                </a:solidFill>
                <a:latin typeface="Noto Serif"/>
              </a:rPr>
              <a:t>Use Case Diagram</a:t>
            </a:r>
            <a:r>
              <a:rPr spc="-60" sz="2000">
                <a:solidFill>
                  <a:srgbClr val="000000"/>
                </a:solidFill>
                <a:latin typeface="Noto Serif"/>
              </a:rPr>
              <a:t> to show how users interact with the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739" y="3044190"/>
            <a:ext cx="7900669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2000">
                <a:solidFill>
                  <a:srgbClr val="000000"/>
                </a:solidFill>
                <a:latin typeface="Noto Serif"/>
              </a:rPr>
              <a:t>Use a </a:t>
            </a:r>
            <a:r>
              <a:rPr spc="-121" b="1" sz="2000">
                <a:solidFill>
                  <a:srgbClr val="000000"/>
                </a:solidFill>
                <a:latin typeface="Noto Serif"/>
              </a:rPr>
              <a:t>Class Diagram</a:t>
            </a:r>
            <a:r>
              <a:rPr spc="-65" sz="2000">
                <a:solidFill>
                  <a:srgbClr val="000000"/>
                </a:solidFill>
                <a:latin typeface="Noto Serif"/>
              </a:rPr>
              <a:t> to organize patients, doctors, appointments, and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739" y="3329940"/>
            <a:ext cx="73914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000">
                <a:solidFill>
                  <a:srgbClr val="000000"/>
                </a:solidFill>
                <a:latin typeface="Noto Serif"/>
              </a:rPr>
              <a:t>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6739" y="3740150"/>
            <a:ext cx="745998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2000">
                <a:solidFill>
                  <a:srgbClr val="000000"/>
                </a:solidFill>
                <a:latin typeface="Noto Serif"/>
              </a:rPr>
              <a:t>Use a </a:t>
            </a:r>
            <a:r>
              <a:rPr spc="-137" b="1" sz="2000">
                <a:solidFill>
                  <a:srgbClr val="000000"/>
                </a:solidFill>
                <a:latin typeface="Noto Serif"/>
              </a:rPr>
              <a:t>Sequence Diagram</a:t>
            </a:r>
            <a:r>
              <a:rPr spc="-48" sz="2000">
                <a:solidFill>
                  <a:srgbClr val="000000"/>
                </a:solidFill>
                <a:latin typeface="Noto Serif"/>
              </a:rPr>
              <a:t> to show the step-by-step flow of system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6739" y="4025900"/>
            <a:ext cx="126873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6" sz="2000">
                <a:solidFill>
                  <a:srgbClr val="000000"/>
                </a:solidFill>
                <a:latin typeface="Noto Serif"/>
              </a:rPr>
              <a:t>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739" y="4434840"/>
            <a:ext cx="770255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4" sz="2000">
                <a:solidFill>
                  <a:srgbClr val="000000"/>
                </a:solidFill>
                <a:latin typeface="Noto Serif"/>
              </a:rPr>
              <a:t>The system will improve efficiency, reduce errors, and make hospital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6739" y="4720590"/>
            <a:ext cx="229743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8" sz="2000">
                <a:solidFill>
                  <a:srgbClr val="000000"/>
                </a:solidFill>
                <a:latin typeface="Noto Serif"/>
              </a:rPr>
              <a:t>management easier.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1950"/>
            <a:ext cx="1041400" cy="1028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350" y="342900"/>
            <a:ext cx="8890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23740" y="504190"/>
            <a:ext cx="310641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03" b="1" sz="4400">
                <a:solidFill>
                  <a:srgbClr val="3A7D22"/>
                </a:solidFill>
                <a:latin typeface="Noto Serif"/>
              </a:rPr>
              <a:t>Architecture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54000"/>
            <a:ext cx="996950" cy="996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177800"/>
            <a:ext cx="984250" cy="1155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1244600"/>
            <a:ext cx="11684000" cy="541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7850" y="770890"/>
            <a:ext cx="456819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5" sz="4400">
                <a:solidFill>
                  <a:srgbClr val="000000"/>
                </a:solidFill>
                <a:latin typeface="Noto Serif"/>
              </a:rPr>
              <a:t>Use Case Diagram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7460" y="1887220"/>
            <a:ext cx="857377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4" sz="2800">
                <a:solidFill>
                  <a:srgbClr val="000000"/>
                </a:solidFill>
                <a:latin typeface="Noto Serif"/>
              </a:rPr>
              <a:t>Shows the interaction between users and the Hospital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7460" y="2268220"/>
            <a:ext cx="34544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0" sz="2800">
                <a:solidFill>
                  <a:srgbClr val="000000"/>
                </a:solidFill>
                <a:latin typeface="Noto Serif"/>
              </a:rPr>
              <a:t>Management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7460" y="2772410"/>
            <a:ext cx="76962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2800">
                <a:solidFill>
                  <a:srgbClr val="000000"/>
                </a:solidFill>
                <a:latin typeface="Noto Serif"/>
              </a:rPr>
              <a:t>Main users are Patient, Doctor, Receptionist, and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7460" y="3153410"/>
            <a:ext cx="222757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5" sz="2800">
                <a:solidFill>
                  <a:srgbClr val="000000"/>
                </a:solidFill>
                <a:latin typeface="Noto Serif"/>
              </a:rPr>
              <a:t>Administrator.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7460" y="3658870"/>
            <a:ext cx="885571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2800">
                <a:solidFill>
                  <a:srgbClr val="000000"/>
                </a:solidFill>
                <a:latin typeface="Noto Serif"/>
              </a:rPr>
              <a:t>Displays functions like patient registration, appointment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7460" y="4039870"/>
            <a:ext cx="649224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9" sz="2800">
                <a:solidFill>
                  <a:srgbClr val="000000"/>
                </a:solidFill>
                <a:latin typeface="Noto Serif"/>
              </a:rPr>
              <a:t>booking, billing, and record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7460" y="4544060"/>
            <a:ext cx="799338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8" sz="2800">
                <a:solidFill>
                  <a:srgbClr val="000000"/>
                </a:solidFill>
                <a:latin typeface="Noto Serif"/>
              </a:rPr>
              <a:t>Helps understand the system requirements clearly.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7460" y="5049520"/>
            <a:ext cx="867156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9" sz="2800">
                <a:solidFill>
                  <a:srgbClr val="000000"/>
                </a:solidFill>
                <a:latin typeface="Noto Serif"/>
              </a:rPr>
              <a:t>Makes communication easier between developers and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7460" y="5430520"/>
            <a:ext cx="212979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2800">
                <a:solidFill>
                  <a:srgbClr val="000000"/>
                </a:solidFill>
                <a:latin typeface="Noto Serif"/>
              </a:rPr>
              <a:t>stakeholders.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77800"/>
            <a:ext cx="984250" cy="1155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254000"/>
            <a:ext cx="99695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2800" y="665480"/>
            <a:ext cx="492379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6" sz="6000">
                <a:solidFill>
                  <a:srgbClr val="000000"/>
                </a:solidFill>
                <a:latin typeface="Noto Serif"/>
              </a:rPr>
              <a:t>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7000" y="2325370"/>
            <a:ext cx="565658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2800">
                <a:solidFill>
                  <a:srgbClr val="000000"/>
                </a:solidFill>
                <a:latin typeface="Noto Serif"/>
              </a:rPr>
              <a:t>Shows the structure of the Hospital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2668270"/>
            <a:ext cx="345567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9" sz="2800">
                <a:solidFill>
                  <a:srgbClr val="000000"/>
                </a:solidFill>
                <a:latin typeface="Noto Serif"/>
              </a:rPr>
              <a:t>Management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7000" y="3134360"/>
            <a:ext cx="581025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8" sz="2800">
                <a:solidFill>
                  <a:srgbClr val="000000"/>
                </a:solidFill>
                <a:latin typeface="Noto Serif"/>
              </a:rPr>
              <a:t>Includes classes like Patient, Doctor,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477260"/>
            <a:ext cx="393954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1" sz="2800">
                <a:solidFill>
                  <a:srgbClr val="000000"/>
                </a:solidFill>
                <a:latin typeface="Noto Serif"/>
              </a:rPr>
              <a:t>Appointment, and 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3944620"/>
            <a:ext cx="685927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2800">
                <a:solidFill>
                  <a:srgbClr val="000000"/>
                </a:solidFill>
                <a:latin typeface="Noto Serif"/>
              </a:rPr>
              <a:t>Shows the attributes and functions of each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4287520"/>
            <a:ext cx="92582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sz="2800">
                <a:solidFill>
                  <a:srgbClr val="000000"/>
                </a:solidFill>
                <a:latin typeface="Noto Serif"/>
              </a:rPr>
              <a:t>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4753610"/>
            <a:ext cx="698754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7" sz="2800">
                <a:solidFill>
                  <a:srgbClr val="000000"/>
                </a:solidFill>
                <a:latin typeface="Noto Serif"/>
              </a:rPr>
              <a:t>Displays the relationships between different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000" y="5096510"/>
            <a:ext cx="129793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2800">
                <a:solidFill>
                  <a:srgbClr val="000000"/>
                </a:solidFill>
                <a:latin typeface="Noto Serif"/>
              </a:rPr>
              <a:t>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5563870"/>
            <a:ext cx="663320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" sz="2800">
                <a:solidFill>
                  <a:srgbClr val="000000"/>
                </a:solidFill>
                <a:latin typeface="Noto Serif"/>
              </a:rPr>
              <a:t>Helps developers design the system in an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0" y="5906770"/>
            <a:ext cx="234696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5" sz="2800">
                <a:solidFill>
                  <a:srgbClr val="000000"/>
                </a:solidFill>
                <a:latin typeface="Noto Serif"/>
              </a:rPr>
              <a:t>organized way.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177800"/>
            <a:ext cx="984250" cy="1155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254000"/>
            <a:ext cx="99695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09240" y="599440"/>
            <a:ext cx="6380480" cy="762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06" sz="6000">
                <a:solidFill>
                  <a:srgbClr val="000000"/>
                </a:solidFill>
                <a:latin typeface="Noto Serif"/>
              </a:rPr>
              <a:t>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1963420"/>
            <a:ext cx="657479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3" sz="2800">
                <a:solidFill>
                  <a:srgbClr val="000000"/>
                </a:solidFill>
                <a:latin typeface="Noto Serif"/>
              </a:rPr>
              <a:t>Shows the step-by-step flow of a process.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7380" y="2467610"/>
            <a:ext cx="819023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7" sz="2800">
                <a:solidFill>
                  <a:srgbClr val="000000"/>
                </a:solidFill>
                <a:latin typeface="Noto Serif"/>
              </a:rPr>
              <a:t>Displays how objects communicate with each other.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97380" y="2973070"/>
            <a:ext cx="821309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8" sz="2800">
                <a:solidFill>
                  <a:srgbClr val="000000"/>
                </a:solidFill>
                <a:latin typeface="Noto Serif"/>
              </a:rPr>
              <a:t>Explains the order of messages during an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3477260"/>
            <a:ext cx="795782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3" sz="2800">
                <a:solidFill>
                  <a:srgbClr val="000000"/>
                </a:solidFill>
                <a:latin typeface="Noto Serif"/>
              </a:rPr>
              <a:t>Example: Patient books an appointment </a:t>
            </a:r>
            <a:r>
              <a:rPr spc="-40" sz="28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86" sz="2800">
                <a:solidFill>
                  <a:srgbClr val="000000"/>
                </a:solidFill>
                <a:latin typeface="Noto Serif"/>
              </a:rPr>
              <a:t> Doctor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3858260"/>
            <a:ext cx="856742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0" sz="2800">
                <a:solidFill>
                  <a:srgbClr val="000000"/>
                </a:solidFill>
                <a:latin typeface="Noto Serif"/>
              </a:rPr>
              <a:t>confirms </a:t>
            </a:r>
            <a:r>
              <a:rPr spc="-31" sz="280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-99" sz="2800">
                <a:solidFill>
                  <a:srgbClr val="000000"/>
                </a:solidFill>
                <a:latin typeface="Noto Serif"/>
              </a:rPr>
              <a:t> Billing is generated. Helps understand the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4239260"/>
            <a:ext cx="401192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1" sz="2800">
                <a:solidFill>
                  <a:srgbClr val="000000"/>
                </a:solidFill>
                <a:latin typeface="Noto Serif"/>
              </a:rPr>
              <a:t>system's behavior clearly.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54000"/>
            <a:ext cx="996950" cy="996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177800"/>
            <a:ext cx="98425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73420" y="770890"/>
            <a:ext cx="2778759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2" sz="4400">
                <a:solidFill>
                  <a:srgbClr val="000000"/>
                </a:solidFill>
                <a:latin typeface="Noto Serif"/>
              </a:rPr>
              <a:t>Conclusion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7460" y="1887220"/>
            <a:ext cx="973582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0" sz="2800">
                <a:solidFill>
                  <a:srgbClr val="000000"/>
                </a:solidFill>
                <a:latin typeface="Noto Serif"/>
              </a:rPr>
              <a:t>UML diagrams help design the Hospital Management System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7460" y="2268220"/>
            <a:ext cx="454025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3" sz="2800">
                <a:solidFill>
                  <a:srgbClr val="000000"/>
                </a:solidFill>
                <a:latin typeface="Noto Serif"/>
              </a:rPr>
              <a:t>in a clear and organized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7460" y="2772410"/>
            <a:ext cx="942848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6" sz="2800">
                <a:solidFill>
                  <a:srgbClr val="000000"/>
                </a:solidFill>
                <a:latin typeface="Noto Serif"/>
              </a:rPr>
              <a:t>They make it easy to understand the system's structure and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7460" y="3153410"/>
            <a:ext cx="151384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9" sz="2800">
                <a:solidFill>
                  <a:srgbClr val="000000"/>
                </a:solidFill>
                <a:latin typeface="Noto Serif"/>
              </a:rPr>
              <a:t>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7460" y="3658870"/>
            <a:ext cx="994664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1" sz="2800">
                <a:solidFill>
                  <a:srgbClr val="000000"/>
                </a:solidFill>
                <a:latin typeface="Noto Serif"/>
              </a:rPr>
              <a:t>UML improves communication between developers, users, and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7460" y="4039870"/>
            <a:ext cx="212979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4" sz="2800">
                <a:solidFill>
                  <a:srgbClr val="000000"/>
                </a:solidFill>
                <a:latin typeface="Noto Serif"/>
              </a:rPr>
              <a:t>stakeholders.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7460" y="4544060"/>
            <a:ext cx="972312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5" sz="2800">
                <a:solidFill>
                  <a:srgbClr val="000000"/>
                </a:solidFill>
                <a:latin typeface="Noto Serif"/>
              </a:rPr>
              <a:t>The system becomes easier to develop, maintain, and update.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7460" y="5049520"/>
            <a:ext cx="936498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2" sz="2800">
                <a:solidFill>
                  <a:srgbClr val="000000"/>
                </a:solidFill>
                <a:latin typeface="Noto Serif"/>
              </a:rPr>
              <a:t>Overall, UML helps create an efficient, reliable, and scalable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7460" y="5430520"/>
            <a:ext cx="486537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5" sz="2800">
                <a:solidFill>
                  <a:srgbClr val="000000"/>
                </a:solidFill>
                <a:latin typeface="Noto Serif"/>
              </a:rPr>
              <a:t>Hospital Management System.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54000"/>
            <a:ext cx="996950" cy="996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177800"/>
            <a:ext cx="98425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1400" y="3039110"/>
            <a:ext cx="501269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01" sz="7200">
                <a:solidFill>
                  <a:srgbClr val="000000"/>
                </a:solidFill>
                <a:latin typeface="Noto Serif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